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548640"/>
            <a:ext cx="2286000" cy="2286000"/>
          </a:xfrm>
          <a:prstGeom prst="ellipse">
            <a:avLst/>
          </a:prstGeom>
          <a:solidFill>
            <a:srgbClr val="24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1920240"/>
            <a:ext cx="1417320" cy="1417320"/>
          </a:xfrm>
          <a:prstGeom prst="ellipse">
            <a:avLst/>
          </a:prstGeom>
          <a:solidFill>
            <a:srgbClr val="6CD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38160" y="2743200"/>
            <a:ext cx="914400" cy="914400"/>
          </a:xfrm>
          <a:prstGeom prst="ellipse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543800" y="1828800"/>
            <a:ext cx="3291840" cy="288036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18120" y="2029968"/>
            <a:ext cx="2560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14203A"/>
                </a:solidFill>
                <a:latin typeface="Aptos"/>
              </a:rPr>
              <a:t>WEEKLY TIMETABLE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606040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14203A"/>
                </a:solidFill>
                <a:latin typeface="Aptos"/>
              </a:rPr>
              <a:t>MON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2596896"/>
            <a:ext cx="548640" cy="256032"/>
          </a:xfrm>
          <a:prstGeom prst="roundRect">
            <a:avLst/>
          </a:prstGeom>
          <a:solidFill>
            <a:srgbClr val="24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62288" y="2596896"/>
            <a:ext cx="548640" cy="256032"/>
          </a:xfrm>
          <a:prstGeom prst="roundRect">
            <a:avLst/>
          </a:prstGeom>
          <a:solidFill>
            <a:srgbClr val="6CD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820656" y="2596896"/>
            <a:ext cx="548640" cy="256032"/>
          </a:xfrm>
          <a:prstGeom prst="roundRect">
            <a:avLst/>
          </a:prstGeom>
          <a:solidFill>
            <a:srgbClr val="E6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18120" y="304495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14203A"/>
                </a:solidFill>
                <a:latin typeface="Aptos"/>
              </a:rPr>
              <a:t>TUE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3035808"/>
            <a:ext cx="548640" cy="256032"/>
          </a:xfrm>
          <a:prstGeom prst="roundRect">
            <a:avLst/>
          </a:prstGeom>
          <a:solidFill>
            <a:srgbClr val="6CD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62288" y="3035808"/>
            <a:ext cx="548640" cy="256032"/>
          </a:xfrm>
          <a:prstGeom prst="roundRect">
            <a:avLst/>
          </a:prstGeom>
          <a:solidFill>
            <a:srgbClr val="E6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820656" y="3035808"/>
            <a:ext cx="548640" cy="256032"/>
          </a:xfrm>
          <a:prstGeom prst="roundRect">
            <a:avLst/>
          </a:prstGeom>
          <a:solidFill>
            <a:srgbClr val="24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18120" y="3483864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14203A"/>
                </a:solidFill>
                <a:latin typeface="Aptos"/>
              </a:rPr>
              <a:t>WED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3474720"/>
            <a:ext cx="548640" cy="256032"/>
          </a:xfrm>
          <a:prstGeom prst="roundRect">
            <a:avLst/>
          </a:prstGeom>
          <a:solidFill>
            <a:srgbClr val="E6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162288" y="3474720"/>
            <a:ext cx="548640" cy="256032"/>
          </a:xfrm>
          <a:prstGeom prst="roundRect">
            <a:avLst/>
          </a:prstGeom>
          <a:solidFill>
            <a:srgbClr val="24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820656" y="3474720"/>
            <a:ext cx="548640" cy="256032"/>
          </a:xfrm>
          <a:prstGeom prst="roundRect">
            <a:avLst/>
          </a:prstGeom>
          <a:solidFill>
            <a:srgbClr val="6CD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18120" y="3922776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14203A"/>
                </a:solidFill>
                <a:latin typeface="Aptos"/>
              </a:rPr>
              <a:t>THU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3913632"/>
            <a:ext cx="548640" cy="256032"/>
          </a:xfrm>
          <a:prstGeom prst="roundRect">
            <a:avLst/>
          </a:prstGeom>
          <a:solidFill>
            <a:srgbClr val="24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62288" y="3913632"/>
            <a:ext cx="548640" cy="256032"/>
          </a:xfrm>
          <a:prstGeom prst="roundRect">
            <a:avLst/>
          </a:prstGeom>
          <a:solidFill>
            <a:srgbClr val="6CD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820656" y="3913632"/>
            <a:ext cx="548640" cy="256032"/>
          </a:xfrm>
          <a:prstGeom prst="roundRect">
            <a:avLst/>
          </a:prstGeom>
          <a:solidFill>
            <a:srgbClr val="E6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658368"/>
            <a:ext cx="6217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24BEAD"/>
                </a:solidFill>
                <a:latin typeface="Aptos"/>
              </a:rPr>
              <a:t>MERN STACK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1298448"/>
            <a:ext cx="6583680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500" b="1">
                <a:solidFill>
                  <a:srgbClr val="F8FAFD"/>
                </a:solidFill>
                <a:latin typeface="Aptos"/>
              </a:rPr>
              <a:t>SMART TIMETABLE
GENERATOR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3127248"/>
            <a:ext cx="5852160" cy="749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0">
                <a:solidFill>
                  <a:srgbClr val="B7C4D8"/>
                </a:solidFill>
                <a:latin typeface="Aptos"/>
              </a:rPr>
              <a:t>Create conflict-free class schedules with a simple,
organized and intelligent web application.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" y="4251960"/>
            <a:ext cx="1261872" cy="384048"/>
          </a:xfrm>
          <a:prstGeom prst="roundRect">
            <a:avLst/>
          </a:prstGeom>
          <a:solidFill>
            <a:srgbClr val="1D2B4A"/>
          </a:solidFill>
          <a:ln>
            <a:solidFill>
              <a:srgbClr val="4DC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4325112"/>
            <a:ext cx="1188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F8FAFD"/>
                </a:solidFill>
                <a:latin typeface="Aptos"/>
              </a:rPr>
              <a:t>MongoDB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03704" y="4251960"/>
            <a:ext cx="1261872" cy="384048"/>
          </a:xfrm>
          <a:prstGeom prst="roundRect">
            <a:avLst/>
          </a:prstGeom>
          <a:solidFill>
            <a:srgbClr val="1D2B4A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40280" y="4325112"/>
            <a:ext cx="1188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dirty="0">
                <a:solidFill>
                  <a:srgbClr val="F8FAFD"/>
                </a:solidFill>
                <a:latin typeface="Aptos"/>
              </a:rPr>
              <a:t>Express.js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21024" y="4251960"/>
            <a:ext cx="1261872" cy="384048"/>
          </a:xfrm>
          <a:prstGeom prst="roundRect">
            <a:avLst/>
          </a:prstGeom>
          <a:solidFill>
            <a:srgbClr val="1D2B4A"/>
          </a:solidFill>
          <a:ln>
            <a:solidFill>
              <a:srgbClr val="6C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0" y="4325112"/>
            <a:ext cx="1188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F8FAFD"/>
                </a:solidFill>
                <a:latin typeface="Aptos"/>
              </a:rPr>
              <a:t>React.js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38344" y="4251960"/>
            <a:ext cx="1261872" cy="384048"/>
          </a:xfrm>
          <a:prstGeom prst="roundRect">
            <a:avLst/>
          </a:prstGeom>
          <a:solidFill>
            <a:srgbClr val="1D2B4A"/>
          </a:solidFill>
          <a:ln>
            <a:solidFill>
              <a:srgbClr val="24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74920" y="4325112"/>
            <a:ext cx="1188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dirty="0">
                <a:solidFill>
                  <a:srgbClr val="F8FAFD"/>
                </a:solidFill>
                <a:latin typeface="Aptos"/>
              </a:rPr>
              <a:t>Node.js</a:t>
            </a:r>
          </a:p>
        </p:txBody>
      </p:sp>
      <p:sp>
        <p:nvSpPr>
          <p:cNvPr id="36" name="Rounded Rectangle 31">
            <a:extLst>
              <a:ext uri="{FF2B5EF4-FFF2-40B4-BE49-F238E27FC236}">
                <a16:creationId xmlns:a16="http://schemas.microsoft.com/office/drawing/2014/main" id="{C9B548CE-124C-3F6B-44C0-93245BD56B23}"/>
              </a:ext>
            </a:extLst>
          </p:cNvPr>
          <p:cNvSpPr/>
          <p:nvPr/>
        </p:nvSpPr>
        <p:spPr>
          <a:xfrm>
            <a:off x="822960" y="4966569"/>
            <a:ext cx="1261872" cy="384048"/>
          </a:xfrm>
          <a:prstGeom prst="roundRect">
            <a:avLst/>
          </a:prstGeom>
          <a:solidFill>
            <a:srgbClr val="1D2B4A"/>
          </a:solidFill>
          <a:ln>
            <a:solidFill>
              <a:srgbClr val="24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React </a:t>
            </a:r>
            <a:r>
              <a:rPr lang="en-US" sz="1200" dirty="0" err="1"/>
              <a:t>apis</a:t>
            </a:r>
            <a:r>
              <a:rPr lang="en-US" sz="1200" dirty="0"/>
              <a:t> and </a:t>
            </a:r>
            <a:r>
              <a:rPr lang="en-US" sz="1200" dirty="0" err="1"/>
              <a:t>json</a:t>
            </a:r>
            <a:endParaRPr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F8FAFD"/>
                </a:solidFill>
                <a:latin typeface="Aptos"/>
              </a:rPr>
              <a:t>01  | 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9264"/>
            <a:ext cx="960120" cy="50292"/>
          </a:xfrm>
          <a:prstGeom prst="rect">
            <a:avLst/>
          </a:prstGeom>
          <a:solidFill>
            <a:srgbClr val="24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B7C4D8"/>
                </a:solidFill>
                <a:latin typeface="Aptos"/>
              </a:rPr>
              <a:t>Why timetable planning needs a smarter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91640"/>
            <a:ext cx="50292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>
                <a:solidFill>
                  <a:srgbClr val="F8FAFD"/>
                </a:solidFill>
                <a:latin typeface="Aptos"/>
              </a:rPr>
              <a:t>Manual scheduling can be slow, repetitive and error-prone.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862072"/>
            <a:ext cx="109728" cy="109728"/>
          </a:xfrm>
          <a:prstGeom prst="ellipse">
            <a:avLst/>
          </a:prstGeom>
          <a:solidFill>
            <a:srgbClr val="24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4773168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F8FAFD"/>
                </a:solidFill>
                <a:latin typeface="Aptos"/>
              </a:rPr>
              <a:t>Two classes may be assigned to the same room at the same time.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39312"/>
            <a:ext cx="109728" cy="109728"/>
          </a:xfrm>
          <a:prstGeom prst="ellipse">
            <a:avLst/>
          </a:prstGeom>
          <a:solidFill>
            <a:srgbClr val="24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520440"/>
            <a:ext cx="4773168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F8FAFD"/>
                </a:solidFill>
                <a:latin typeface="Aptos"/>
              </a:rPr>
              <a:t>A faculty member may be scheduled for overlapping lectures.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416552"/>
            <a:ext cx="109728" cy="109728"/>
          </a:xfrm>
          <a:prstGeom prst="ellipse">
            <a:avLst/>
          </a:prstGeom>
          <a:solidFill>
            <a:srgbClr val="24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297680"/>
            <a:ext cx="4773168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F8FAFD"/>
                </a:solidFill>
                <a:latin typeface="Aptos"/>
              </a:rPr>
              <a:t>Finding and correcting clashes takes extra effort.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4754880" cy="1097280"/>
          </a:xfrm>
          <a:prstGeom prst="roundRect">
            <a:avLst/>
          </a:prstGeom>
          <a:solidFill>
            <a:srgbClr val="1D2B4A"/>
          </a:solidFill>
          <a:ln>
            <a:solidFill>
              <a:srgbClr val="36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1938528"/>
            <a:ext cx="64008" cy="877824"/>
          </a:xfrm>
          <a:prstGeom prst="rect">
            <a:avLst/>
          </a:prstGeom>
          <a:solidFill>
            <a:srgbClr val="24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01968" y="1993392"/>
            <a:ext cx="437083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F8FAFD"/>
                </a:solidFill>
                <a:latin typeface="Aptos"/>
              </a:rPr>
              <a:t>THE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450592"/>
            <a:ext cx="4370832" cy="3840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B7C4D8"/>
                </a:solidFill>
                <a:latin typeface="Aptos"/>
              </a:rPr>
              <a:t>Generate a timetable with no room, faculty or class-time conflicts.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246120"/>
            <a:ext cx="4754880" cy="1097280"/>
          </a:xfrm>
          <a:prstGeom prst="roundRect">
            <a:avLst/>
          </a:prstGeom>
          <a:solidFill>
            <a:srgbClr val="1D2B4A"/>
          </a:solidFill>
          <a:ln>
            <a:solidFill>
              <a:srgbClr val="36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3355848"/>
            <a:ext cx="64008" cy="877824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01968" y="3410712"/>
            <a:ext cx="437083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F8FAFD"/>
                </a:solidFill>
                <a:latin typeface="Aptos"/>
              </a:rPr>
              <a:t>THE APPROACH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867911"/>
            <a:ext cx="4370832" cy="3840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B7C4D8"/>
                </a:solidFill>
                <a:latin typeface="Aptos"/>
              </a:rPr>
              <a:t>Store schedule data centrally and validate each time-slot assignment.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663440"/>
            <a:ext cx="4754880" cy="914400"/>
          </a:xfrm>
          <a:prstGeom prst="roundRect">
            <a:avLst/>
          </a:prstGeom>
          <a:solidFill>
            <a:srgbClr val="1D2B4A"/>
          </a:solidFill>
          <a:ln>
            <a:solidFill>
              <a:srgbClr val="36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0" y="4773168"/>
            <a:ext cx="64008" cy="694944"/>
          </a:xfrm>
          <a:prstGeom prst="rect">
            <a:avLst/>
          </a:prstGeom>
          <a:solidFill>
            <a:srgbClr val="6CD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01968" y="4828031"/>
            <a:ext cx="437083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F8FAFD"/>
                </a:solidFill>
                <a:latin typeface="Aptos"/>
              </a:rPr>
              <a:t>THE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5285231"/>
            <a:ext cx="4370832" cy="2011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B7C4D8"/>
                </a:solidFill>
                <a:latin typeface="Aptos"/>
              </a:rPr>
              <a:t>Clear schedules that are easier to create, view and maintain.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F8FAFD"/>
                </a:solidFill>
                <a:latin typeface="Aptos"/>
              </a:rPr>
              <a:t>02  |  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9264"/>
            <a:ext cx="960120" cy="50292"/>
          </a:xfrm>
          <a:prstGeom prst="rect">
            <a:avLst/>
          </a:prstGeom>
          <a:solidFill>
            <a:srgbClr val="24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B7C4D8"/>
                </a:solidFill>
                <a:latin typeface="Aptos"/>
              </a:rPr>
              <a:t>What the application is designed to demonstrate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B7C4D8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737360"/>
            <a:ext cx="3429000" cy="1600200"/>
          </a:xfrm>
          <a:prstGeom prst="roundRect">
            <a:avLst/>
          </a:prstGeom>
          <a:solidFill>
            <a:srgbClr val="1D2B4A"/>
          </a:solidFill>
          <a:ln>
            <a:solidFill>
              <a:srgbClr val="36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3232" y="1847088"/>
            <a:ext cx="64008" cy="1380744"/>
          </a:xfrm>
          <a:prstGeom prst="rect">
            <a:avLst/>
          </a:prstGeom>
          <a:solidFill>
            <a:srgbClr val="24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30449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Aptos"/>
              </a:rPr>
              <a:t>MERN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3044952" cy="8869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B7C4D8"/>
                </a:solidFill>
                <a:latin typeface="Aptos"/>
              </a:rPr>
              <a:t>Connect MongoDB, Express, React and Node.js.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0712" y="1874519"/>
            <a:ext cx="457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100" b="1">
                <a:solidFill>
                  <a:srgbClr val="24BEAD"/>
                </a:solidFill>
                <a:latin typeface="Aptos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35424" y="1737360"/>
            <a:ext cx="3429000" cy="1600200"/>
          </a:xfrm>
          <a:prstGeom prst="roundRect">
            <a:avLst/>
          </a:prstGeom>
          <a:solidFill>
            <a:srgbClr val="1D2B4A"/>
          </a:solidFill>
          <a:ln>
            <a:solidFill>
              <a:srgbClr val="36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35424" y="1847088"/>
            <a:ext cx="64008" cy="1380744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6592" y="1901952"/>
            <a:ext cx="30449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Aptos"/>
              </a:rPr>
              <a:t>CRUD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359152"/>
            <a:ext cx="3044952" cy="8869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B7C4D8"/>
                </a:solidFill>
                <a:latin typeface="Aptos"/>
              </a:rPr>
              <a:t>Add, view, edit and delete timetable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2904" y="1874519"/>
            <a:ext cx="457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100" b="1">
                <a:solidFill>
                  <a:srgbClr val="FFBE5C"/>
                </a:solidFill>
                <a:latin typeface="Aptos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7615" y="1737360"/>
            <a:ext cx="3429000" cy="1600200"/>
          </a:xfrm>
          <a:prstGeom prst="roundRect">
            <a:avLst/>
          </a:prstGeom>
          <a:solidFill>
            <a:srgbClr val="1D2B4A"/>
          </a:solidFill>
          <a:ln>
            <a:solidFill>
              <a:srgbClr val="36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57615" y="1847088"/>
            <a:ext cx="64008" cy="1380744"/>
          </a:xfrm>
          <a:prstGeom prst="rect">
            <a:avLst/>
          </a:prstGeom>
          <a:solidFill>
            <a:srgbClr val="6CD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58784" y="1901952"/>
            <a:ext cx="30449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Aptos"/>
              </a:rPr>
              <a:t>REST APIs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2359152"/>
            <a:ext cx="3044952" cy="8869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B7C4D8"/>
                </a:solidFill>
                <a:latin typeface="Aptos"/>
              </a:rPr>
              <a:t>Create endpoints to manage subjects, faculty and rooms.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55096" y="1874519"/>
            <a:ext cx="457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100" b="1">
                <a:solidFill>
                  <a:srgbClr val="6CDADE"/>
                </a:solidFill>
                <a:latin typeface="Aptos"/>
              </a:rPr>
              <a:t>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794760"/>
            <a:ext cx="3429000" cy="1600200"/>
          </a:xfrm>
          <a:prstGeom prst="roundRect">
            <a:avLst/>
          </a:prstGeom>
          <a:solidFill>
            <a:srgbClr val="1D2B4A"/>
          </a:solidFill>
          <a:ln>
            <a:solidFill>
              <a:srgbClr val="36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13232" y="3904488"/>
            <a:ext cx="64008" cy="1380744"/>
          </a:xfrm>
          <a:prstGeom prst="rect">
            <a:avLst/>
          </a:prstGeom>
          <a:solidFill>
            <a:srgbClr val="24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959352"/>
            <a:ext cx="30449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Aptos"/>
              </a:rPr>
              <a:t>Conflict checking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416552"/>
            <a:ext cx="3044952" cy="8869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B7C4D8"/>
                </a:solidFill>
                <a:latin typeface="Aptos"/>
              </a:rPr>
              <a:t>Prevent overlapping assignments in shared resources.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0712" y="3931920"/>
            <a:ext cx="457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100" b="1">
                <a:solidFill>
                  <a:srgbClr val="24BEAD"/>
                </a:solidFill>
                <a:latin typeface="Aptos"/>
              </a:rPr>
              <a:t>04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35424" y="3794760"/>
            <a:ext cx="3429000" cy="1600200"/>
          </a:xfrm>
          <a:prstGeom prst="roundRect">
            <a:avLst/>
          </a:prstGeom>
          <a:solidFill>
            <a:srgbClr val="1D2B4A"/>
          </a:solidFill>
          <a:ln>
            <a:solidFill>
              <a:srgbClr val="36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35424" y="3904488"/>
            <a:ext cx="64008" cy="1380744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36592" y="3959352"/>
            <a:ext cx="30449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Aptos"/>
              </a:rPr>
              <a:t>Access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6592" y="4416552"/>
            <a:ext cx="3044952" cy="8869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B7C4D8"/>
                </a:solidFill>
                <a:latin typeface="Aptos"/>
              </a:rPr>
              <a:t>Support login and role-based permissions where required.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3931920"/>
            <a:ext cx="457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100" b="1">
                <a:solidFill>
                  <a:srgbClr val="FFBE5C"/>
                </a:solidFill>
                <a:latin typeface="Aptos"/>
              </a:rPr>
              <a:t>05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57615" y="3794760"/>
            <a:ext cx="3429000" cy="1600200"/>
          </a:xfrm>
          <a:prstGeom prst="roundRect">
            <a:avLst/>
          </a:prstGeom>
          <a:solidFill>
            <a:srgbClr val="1D2B4A"/>
          </a:solidFill>
          <a:ln>
            <a:solidFill>
              <a:srgbClr val="36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357615" y="3904488"/>
            <a:ext cx="64008" cy="1380744"/>
          </a:xfrm>
          <a:prstGeom prst="rect">
            <a:avLst/>
          </a:prstGeom>
          <a:solidFill>
            <a:srgbClr val="6CD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58784" y="3959352"/>
            <a:ext cx="304495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Aptos"/>
              </a:rPr>
              <a:t>Clear results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58784" y="4416552"/>
            <a:ext cx="3044952" cy="8869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B7C4D8"/>
                </a:solidFill>
                <a:latin typeface="Aptos"/>
              </a:rPr>
              <a:t>Display generated schedules in an easy-to-read grid.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55096" y="3931920"/>
            <a:ext cx="457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100" b="1">
                <a:solidFill>
                  <a:srgbClr val="6CDADE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F8FAFD"/>
                </a:solidFill>
                <a:latin typeface="Aptos"/>
              </a:rPr>
              <a:t>03  | 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9264"/>
            <a:ext cx="960120" cy="50292"/>
          </a:xfrm>
          <a:prstGeom prst="rect">
            <a:avLst/>
          </a:prstGeom>
          <a:solidFill>
            <a:srgbClr val="24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B7C4D8"/>
                </a:solidFill>
                <a:latin typeface="Aptos"/>
              </a:rPr>
              <a:t>How the main components work together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2423160" cy="1417320"/>
          </a:xfrm>
          <a:prstGeom prst="roundRect">
            <a:avLst/>
          </a:prstGeom>
          <a:solidFill>
            <a:srgbClr val="1D2B4A"/>
          </a:solidFill>
          <a:ln w="21590">
            <a:solidFill>
              <a:srgbClr val="24B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2578608"/>
            <a:ext cx="2194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F8FAFD"/>
                </a:solidFill>
                <a:latin typeface="Aptos"/>
              </a:rPr>
              <a:t>React.js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035808"/>
            <a:ext cx="21945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0">
                <a:solidFill>
                  <a:srgbClr val="B7C4D8"/>
                </a:solidFill>
                <a:latin typeface="Aptos"/>
              </a:rPr>
              <a:t>User interface
Forms • timetable grid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331720"/>
            <a:ext cx="2423160" cy="1417320"/>
          </a:xfrm>
          <a:prstGeom prst="roundRect">
            <a:avLst/>
          </a:prstGeom>
          <a:solidFill>
            <a:srgbClr val="1D2B4A"/>
          </a:solidFill>
          <a:ln w="21590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67328" y="2578608"/>
            <a:ext cx="2194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F8FAFD"/>
                </a:solidFill>
                <a:latin typeface="Aptos"/>
              </a:rPr>
              <a:t>Node.js + Express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3035808"/>
            <a:ext cx="21945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0">
                <a:solidFill>
                  <a:srgbClr val="B7C4D8"/>
                </a:solidFill>
                <a:latin typeface="Aptos"/>
              </a:rPr>
              <a:t>REST API
Validation • business logic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331720"/>
            <a:ext cx="2423160" cy="1417320"/>
          </a:xfrm>
          <a:prstGeom prst="roundRect">
            <a:avLst/>
          </a:prstGeom>
          <a:solidFill>
            <a:srgbClr val="1D2B4A"/>
          </a:solidFill>
          <a:ln w="21590">
            <a:solidFill>
              <a:srgbClr val="6C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30568" y="2578608"/>
            <a:ext cx="2194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F8FAFD"/>
                </a:solidFill>
                <a:latin typeface="Aptos"/>
              </a:rPr>
              <a:t>MongoDB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3035808"/>
            <a:ext cx="21945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0">
                <a:solidFill>
                  <a:srgbClr val="B7C4D8"/>
                </a:solidFill>
                <a:latin typeface="Aptos"/>
              </a:rPr>
              <a:t>Collections
Subjects • faculty • rooms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82112" y="2743200"/>
            <a:ext cx="384048" cy="320040"/>
          </a:xfrm>
          <a:prstGeom prst="rightArrow">
            <a:avLst/>
          </a:prstGeom>
          <a:solidFill>
            <a:srgbClr val="24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6245352" y="2743200"/>
            <a:ext cx="384048" cy="320040"/>
          </a:xfrm>
          <a:prstGeom prst="rightArrow">
            <a:avLst/>
          </a:prstGeom>
          <a:solidFill>
            <a:srgbClr val="24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343400"/>
            <a:ext cx="103327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F8FAFD"/>
                </a:solidFill>
                <a:latin typeface="Aptos"/>
              </a:rPr>
              <a:t>Typical flow: User action → API request → validation and conflict check → database update → updated timetable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166360"/>
            <a:ext cx="96012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0" dirty="0">
                <a:solidFill>
                  <a:srgbClr val="B7C4D8"/>
                </a:solidFill>
                <a:latin typeface="Aptos"/>
              </a:rPr>
              <a:t>Optional authentication layer: protect admin functions and limit access by user role.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F8FAFD"/>
                </a:solidFill>
                <a:latin typeface="Aptos"/>
              </a:rPr>
              <a:t>04  |  Data Management &amp; CRUD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9264"/>
            <a:ext cx="960120" cy="50292"/>
          </a:xfrm>
          <a:prstGeom prst="rect">
            <a:avLst/>
          </a:prstGeom>
          <a:solidFill>
            <a:srgbClr val="24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B7C4D8"/>
                </a:solidFill>
                <a:latin typeface="Aptos"/>
              </a:rPr>
              <a:t>Core records stored and managed through MongoDB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783080"/>
            <a:ext cx="411480" cy="411480"/>
          </a:xfrm>
          <a:prstGeom prst="ellipse">
            <a:avLst/>
          </a:prstGeom>
          <a:solidFill>
            <a:srgbClr val="24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17320" y="1691640"/>
            <a:ext cx="1920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F8FAFD"/>
                </a:solidFill>
                <a:latin typeface="Aptos"/>
              </a:rPr>
              <a:t>Subjects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691640"/>
            <a:ext cx="3657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B7C4D8"/>
                </a:solidFill>
                <a:latin typeface="Aptos"/>
              </a:rPr>
              <a:t>Subject name • code • semester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691640"/>
            <a:ext cx="3840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F8FAFD"/>
                </a:solidFill>
                <a:latin typeface="Aptos"/>
              </a:rPr>
              <a:t>Create, read, update, delete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4984" y="2194560"/>
            <a:ext cx="32004" cy="438912"/>
          </a:xfrm>
          <a:prstGeom prst="rect">
            <a:avLst/>
          </a:prstGeom>
          <a:solidFill>
            <a:srgbClr val="41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22960" y="2807208"/>
            <a:ext cx="411480" cy="411480"/>
          </a:xfrm>
          <a:prstGeom prst="ellipse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17320" y="2715768"/>
            <a:ext cx="1920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F8FAFD"/>
                </a:solidFill>
                <a:latin typeface="Aptos"/>
              </a:rPr>
              <a:t>Faculty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715768"/>
            <a:ext cx="3657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B7C4D8"/>
                </a:solidFill>
                <a:latin typeface="Aptos"/>
              </a:rPr>
              <a:t>Name • department • availability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715768"/>
            <a:ext cx="3840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F8FAFD"/>
                </a:solidFill>
                <a:latin typeface="Aptos"/>
              </a:rPr>
              <a:t>Manage teaching assignments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4984" y="3218688"/>
            <a:ext cx="32004" cy="438912"/>
          </a:xfrm>
          <a:prstGeom prst="rect">
            <a:avLst/>
          </a:prstGeom>
          <a:solidFill>
            <a:srgbClr val="41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2960" y="3831335"/>
            <a:ext cx="411480" cy="411480"/>
          </a:xfrm>
          <a:prstGeom prst="ellipse">
            <a:avLst/>
          </a:prstGeom>
          <a:solidFill>
            <a:srgbClr val="6CD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17320" y="3739896"/>
            <a:ext cx="1920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F8FAFD"/>
                </a:solidFill>
                <a:latin typeface="Aptos"/>
              </a:rPr>
              <a:t>Rooms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739896"/>
            <a:ext cx="3657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B7C4D8"/>
                </a:solidFill>
                <a:latin typeface="Aptos"/>
              </a:rPr>
              <a:t>Room number • capacity • 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739896"/>
            <a:ext cx="3840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F8FAFD"/>
                </a:solidFill>
                <a:latin typeface="Aptos"/>
              </a:rPr>
              <a:t>Avoid room double-booking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984" y="4242816"/>
            <a:ext cx="32004" cy="438912"/>
          </a:xfrm>
          <a:prstGeom prst="rect">
            <a:avLst/>
          </a:prstGeom>
          <a:solidFill>
            <a:srgbClr val="41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2960" y="4855464"/>
            <a:ext cx="411480" cy="411480"/>
          </a:xfrm>
          <a:prstGeom prst="ellipse">
            <a:avLst/>
          </a:prstGeom>
          <a:solidFill>
            <a:srgbClr val="4D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17320" y="4764024"/>
            <a:ext cx="1920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F8FAFD"/>
                </a:solidFill>
                <a:latin typeface="Aptos"/>
              </a:rPr>
              <a:t>Timetable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764024"/>
            <a:ext cx="3657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B7C4D8"/>
                </a:solidFill>
                <a:latin typeface="Aptos"/>
              </a:rPr>
              <a:t>Day • start/end time • subject • faculty • room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764024"/>
            <a:ext cx="3840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F8FAFD"/>
                </a:solidFill>
                <a:latin typeface="Aptos"/>
              </a:rPr>
              <a:t>View and validate schedule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897880"/>
            <a:ext cx="102412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24BEAD"/>
                </a:solidFill>
                <a:latin typeface="Aptos"/>
              </a:rPr>
              <a:t>Each record should be validated before saving to keep timetable data consistent.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F8FAFD"/>
                </a:solidFill>
                <a:latin typeface="Aptos"/>
              </a:rPr>
              <a:t>05  |  Conflict-Free Scheduling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9264"/>
            <a:ext cx="960120" cy="50292"/>
          </a:xfrm>
          <a:prstGeom prst="rect">
            <a:avLst/>
          </a:prstGeom>
          <a:solidFill>
            <a:srgbClr val="24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B7C4D8"/>
                </a:solidFill>
                <a:latin typeface="Aptos"/>
              </a:rPr>
              <a:t>Rules the generator checks before accepting a slot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 dirty="0">
                <a:solidFill>
                  <a:srgbClr val="B7C4D8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6766560" cy="749808"/>
          </a:xfrm>
          <a:prstGeom prst="roundRect">
            <a:avLst/>
          </a:prstGeom>
          <a:solidFill>
            <a:srgbClr val="1D2B4A"/>
          </a:solidFill>
          <a:ln>
            <a:solidFill>
              <a:srgbClr val="36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801368"/>
            <a:ext cx="64008" cy="530352"/>
          </a:xfrm>
          <a:prstGeom prst="rect">
            <a:avLst/>
          </a:prstGeom>
          <a:solidFill>
            <a:srgbClr val="24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1856232"/>
            <a:ext cx="63825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F8FAFD"/>
                </a:solidFill>
                <a:latin typeface="Aptos"/>
              </a:rPr>
              <a:t>Faculty conflict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313432"/>
            <a:ext cx="6382512" cy="365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B7C4D8"/>
                </a:solidFill>
                <a:latin typeface="Aptos"/>
              </a:rPr>
              <a:t>One faculty member cannot teach two classes at the same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651760"/>
            <a:ext cx="6766560" cy="749808"/>
          </a:xfrm>
          <a:prstGeom prst="roundRect">
            <a:avLst/>
          </a:prstGeom>
          <a:solidFill>
            <a:srgbClr val="1D2B4A"/>
          </a:solidFill>
          <a:ln>
            <a:solidFill>
              <a:srgbClr val="36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68680" y="2761488"/>
            <a:ext cx="64008" cy="530352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9848" y="2816352"/>
            <a:ext cx="63825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F8FAFD"/>
                </a:solidFill>
                <a:latin typeface="Aptos"/>
              </a:rPr>
              <a:t>Room conflict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3273552"/>
            <a:ext cx="6382512" cy="365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B7C4D8"/>
                </a:solidFill>
                <a:latin typeface="Aptos"/>
              </a:rPr>
              <a:t>One room cannot host two classes in overlapping time slots.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611880"/>
            <a:ext cx="6766560" cy="749808"/>
          </a:xfrm>
          <a:prstGeom prst="roundRect">
            <a:avLst/>
          </a:prstGeom>
          <a:solidFill>
            <a:srgbClr val="1D2B4A"/>
          </a:solidFill>
          <a:ln>
            <a:solidFill>
              <a:srgbClr val="36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68680" y="3721608"/>
            <a:ext cx="64008" cy="530352"/>
          </a:xfrm>
          <a:prstGeom prst="rect">
            <a:avLst/>
          </a:prstGeom>
          <a:solidFill>
            <a:srgbClr val="6CD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9848" y="3776472"/>
            <a:ext cx="63825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F8FAFD"/>
                </a:solidFill>
                <a:latin typeface="Aptos"/>
              </a:rPr>
              <a:t>Class conflict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4233672"/>
            <a:ext cx="6382512" cy="365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B7C4D8"/>
                </a:solidFill>
                <a:latin typeface="Aptos"/>
              </a:rPr>
              <a:t>A class or student group cannot attend two subjects simultaneously.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572000"/>
            <a:ext cx="6766560" cy="749808"/>
          </a:xfrm>
          <a:prstGeom prst="roundRect">
            <a:avLst/>
          </a:prstGeom>
          <a:solidFill>
            <a:srgbClr val="1D2B4A"/>
          </a:solidFill>
          <a:ln>
            <a:solidFill>
              <a:srgbClr val="36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68680" y="4681728"/>
            <a:ext cx="64008" cy="530352"/>
          </a:xfrm>
          <a:prstGeom prst="rect">
            <a:avLst/>
          </a:prstGeom>
          <a:solidFill>
            <a:srgbClr val="4D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9848" y="4736592"/>
            <a:ext cx="638251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F8FAFD"/>
                </a:solidFill>
                <a:latin typeface="Aptos"/>
              </a:rPr>
              <a:t>Availability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5193792"/>
            <a:ext cx="6382512" cy="365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B7C4D8"/>
                </a:solidFill>
                <a:latin typeface="Aptos"/>
              </a:rPr>
              <a:t>Assignments must fit the selected day, period and availability.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691640"/>
            <a:ext cx="2926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24BEAD"/>
                </a:solidFill>
                <a:latin typeface="Aptos"/>
              </a:rPr>
              <a:t>EXAMPLE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832" y="2240280"/>
            <a:ext cx="65836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>
                <a:solidFill>
                  <a:srgbClr val="B7C4D8"/>
                </a:solidFill>
                <a:latin typeface="Aptos"/>
              </a:rPr>
              <a:t>9–10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74352" y="2240280"/>
            <a:ext cx="65836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>
                <a:solidFill>
                  <a:srgbClr val="B7C4D8"/>
                </a:solidFill>
                <a:latin typeface="Aptos"/>
              </a:rPr>
              <a:t>10–11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05872" y="2240280"/>
            <a:ext cx="65836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>
                <a:solidFill>
                  <a:srgbClr val="B7C4D8"/>
                </a:solidFill>
                <a:latin typeface="Aptos"/>
              </a:rPr>
              <a:t>11–12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660904"/>
            <a:ext cx="594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F8FAFD"/>
                </a:solidFill>
                <a:latin typeface="Aptos"/>
              </a:rPr>
              <a:t>Mon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87968" y="2624328"/>
            <a:ext cx="658368" cy="347472"/>
          </a:xfrm>
          <a:prstGeom prst="roundRect">
            <a:avLst/>
          </a:prstGeom>
          <a:solidFill>
            <a:srgbClr val="E6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06256" y="2697480"/>
            <a:ext cx="62179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00" b="1">
                <a:solidFill>
                  <a:srgbClr val="14203A"/>
                </a:solidFill>
                <a:latin typeface="Aptos"/>
              </a:rPr>
              <a:t>Math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19488" y="2624328"/>
            <a:ext cx="658368" cy="347472"/>
          </a:xfrm>
          <a:prstGeom prst="roundRect">
            <a:avLst/>
          </a:prstGeom>
          <a:solidFill>
            <a:srgbClr val="E6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37776" y="2697480"/>
            <a:ext cx="62179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00" b="1">
                <a:solidFill>
                  <a:srgbClr val="14203A"/>
                </a:solidFill>
                <a:latin typeface="Aptos"/>
              </a:rPr>
              <a:t>Lab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351008" y="2624328"/>
            <a:ext cx="658368" cy="347472"/>
          </a:xfrm>
          <a:prstGeom prst="roundRect">
            <a:avLst/>
          </a:prstGeom>
          <a:solidFill>
            <a:srgbClr val="2B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69296" y="2697480"/>
            <a:ext cx="62179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00" b="1">
                <a:solidFill>
                  <a:srgbClr val="B7C4D8"/>
                </a:solidFill>
                <a:latin typeface="Aptos"/>
              </a:rPr>
              <a:t>Free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191256"/>
            <a:ext cx="594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F8FAFD"/>
                </a:solidFill>
                <a:latin typeface="Aptos"/>
              </a:rPr>
              <a:t>Tue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3154680"/>
            <a:ext cx="658368" cy="347472"/>
          </a:xfrm>
          <a:prstGeom prst="roundRect">
            <a:avLst/>
          </a:prstGeom>
          <a:solidFill>
            <a:srgbClr val="2B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06256" y="3227832"/>
            <a:ext cx="62179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00" b="1">
                <a:solidFill>
                  <a:srgbClr val="B7C4D8"/>
                </a:solidFill>
                <a:latin typeface="Aptos"/>
              </a:rPr>
              <a:t>Free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19488" y="3154680"/>
            <a:ext cx="658368" cy="347472"/>
          </a:xfrm>
          <a:prstGeom prst="roundRect">
            <a:avLst/>
          </a:prstGeom>
          <a:solidFill>
            <a:srgbClr val="E6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37776" y="3227832"/>
            <a:ext cx="62179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00" b="1">
                <a:solidFill>
                  <a:srgbClr val="14203A"/>
                </a:solidFill>
                <a:latin typeface="Aptos"/>
              </a:rPr>
              <a:t>CS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351008" y="3154680"/>
            <a:ext cx="658368" cy="347472"/>
          </a:xfrm>
          <a:prstGeom prst="roundRect">
            <a:avLst/>
          </a:prstGeom>
          <a:solidFill>
            <a:srgbClr val="2B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369296" y="3227832"/>
            <a:ext cx="62179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00" b="1">
                <a:solidFill>
                  <a:srgbClr val="B7C4D8"/>
                </a:solidFill>
                <a:latin typeface="Aptos"/>
              </a:rPr>
              <a:t>Free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721608"/>
            <a:ext cx="594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F8FAFD"/>
                </a:solidFill>
                <a:latin typeface="Aptos"/>
              </a:rPr>
              <a:t>Wed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87968" y="3685032"/>
            <a:ext cx="658368" cy="347472"/>
          </a:xfrm>
          <a:prstGeom prst="roundRect">
            <a:avLst/>
          </a:prstGeom>
          <a:solidFill>
            <a:srgbClr val="E6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06256" y="3758184"/>
            <a:ext cx="62179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00" b="1">
                <a:solidFill>
                  <a:srgbClr val="14203A"/>
                </a:solidFill>
                <a:latin typeface="Aptos"/>
              </a:rPr>
              <a:t>Math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19488" y="3685032"/>
            <a:ext cx="658368" cy="347472"/>
          </a:xfrm>
          <a:prstGeom prst="roundRect">
            <a:avLst/>
          </a:prstGeom>
          <a:solidFill>
            <a:srgbClr val="2B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637776" y="3758184"/>
            <a:ext cx="62179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00" b="1">
                <a:solidFill>
                  <a:srgbClr val="B7C4D8"/>
                </a:solidFill>
                <a:latin typeface="Aptos"/>
              </a:rPr>
              <a:t>Free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51008" y="3685032"/>
            <a:ext cx="658368" cy="347472"/>
          </a:xfrm>
          <a:prstGeom prst="roundRect">
            <a:avLst/>
          </a:prstGeom>
          <a:solidFill>
            <a:srgbClr val="E6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369296" y="3758184"/>
            <a:ext cx="62179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00" b="1">
                <a:solidFill>
                  <a:srgbClr val="14203A"/>
                </a:solidFill>
                <a:latin typeface="Aptos"/>
              </a:rPr>
              <a:t>Lab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4572000"/>
            <a:ext cx="320040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0">
                <a:solidFill>
                  <a:srgbClr val="B7C4D8"/>
                </a:solidFill>
                <a:latin typeface="Aptos"/>
              </a:rPr>
              <a:t>If any rule fails, the slot is rejected and another available slot is considered.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>
                <a:solidFill>
                  <a:srgbClr val="F8FAFD"/>
                </a:solidFill>
                <a:latin typeface="Aptos"/>
              </a:rPr>
              <a:t>06  |  Expected Output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9264"/>
            <a:ext cx="960120" cy="50292"/>
          </a:xfrm>
          <a:prstGeom prst="rect">
            <a:avLst/>
          </a:prstGeom>
          <a:solidFill>
            <a:srgbClr val="24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B7C4D8"/>
                </a:solidFill>
                <a:latin typeface="Aptos"/>
              </a:rPr>
              <a:t>A practical foundation for academic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 dirty="0">
                <a:solidFill>
                  <a:srgbClr val="B7C4D8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417320"/>
          </a:xfrm>
          <a:prstGeom prst="roundRect">
            <a:avLst/>
          </a:prstGeom>
          <a:solidFill>
            <a:srgbClr val="1D2B4A"/>
          </a:solidFill>
          <a:ln>
            <a:solidFill>
              <a:srgbClr val="36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47088"/>
            <a:ext cx="64008" cy="1197864"/>
          </a:xfrm>
          <a:prstGeom prst="rect">
            <a:avLst/>
          </a:prstGeom>
          <a:solidFill>
            <a:srgbClr val="24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901952"/>
            <a:ext cx="299923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F8FAFD"/>
                </a:solidFill>
                <a:latin typeface="Aptos"/>
              </a:rPr>
              <a:t>ADMIN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59152"/>
            <a:ext cx="2999232" cy="704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B7C4D8"/>
                </a:solidFill>
                <a:latin typeface="Aptos"/>
              </a:rPr>
              <a:t>Manage subjects, faculty, rooms and schedule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37360"/>
            <a:ext cx="3383280" cy="1417320"/>
          </a:xfrm>
          <a:prstGeom prst="roundRect">
            <a:avLst/>
          </a:prstGeom>
          <a:solidFill>
            <a:srgbClr val="1D2B4A"/>
          </a:solidFill>
          <a:ln>
            <a:solidFill>
              <a:srgbClr val="36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07408" y="1847088"/>
            <a:ext cx="64008" cy="1197864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576" y="1901952"/>
            <a:ext cx="299923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F8FAFD"/>
                </a:solidFill>
                <a:latin typeface="Aptos"/>
              </a:rPr>
              <a:t>TIMETABLE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359152"/>
            <a:ext cx="2999232" cy="704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B7C4D8"/>
                </a:solidFill>
                <a:latin typeface="Aptos"/>
              </a:rPr>
              <a:t>Display a weekly grid organized by day and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737360"/>
            <a:ext cx="3383280" cy="1417320"/>
          </a:xfrm>
          <a:prstGeom prst="roundRect">
            <a:avLst/>
          </a:prstGeom>
          <a:solidFill>
            <a:srgbClr val="1D2B4A"/>
          </a:solidFill>
          <a:ln>
            <a:solidFill>
              <a:srgbClr val="36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28431" y="1847088"/>
            <a:ext cx="64008" cy="1197864"/>
          </a:xfrm>
          <a:prstGeom prst="rect">
            <a:avLst/>
          </a:prstGeom>
          <a:solidFill>
            <a:srgbClr val="6CD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901952"/>
            <a:ext cx="299923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>
                <a:solidFill>
                  <a:srgbClr val="F8FAFD"/>
                </a:solidFill>
                <a:latin typeface="Aptos"/>
              </a:rPr>
              <a:t>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59152"/>
            <a:ext cx="2999232" cy="704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B7C4D8"/>
                </a:solidFill>
                <a:latin typeface="Aptos"/>
              </a:rPr>
              <a:t>Highlight clashes and explain why a slot is unavailable.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94760"/>
            <a:ext cx="10515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F8FAFD"/>
                </a:solidFill>
                <a:latin typeface="Aptos"/>
              </a:rPr>
              <a:t>Benefits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553712"/>
            <a:ext cx="109728" cy="109728"/>
          </a:xfrm>
          <a:prstGeom prst="ellipse">
            <a:avLst/>
          </a:prstGeom>
          <a:solidFill>
            <a:srgbClr val="24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70432" y="4434840"/>
            <a:ext cx="4315968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F8FAFD"/>
                </a:solidFill>
                <a:latin typeface="Aptos"/>
              </a:rPr>
              <a:t>Less manual effort</a:t>
            </a:r>
          </a:p>
        </p:txBody>
      </p:sp>
      <p:sp>
        <p:nvSpPr>
          <p:cNvPr id="21" name="Oval 20"/>
          <p:cNvSpPr/>
          <p:nvPr/>
        </p:nvSpPr>
        <p:spPr>
          <a:xfrm>
            <a:off x="6035040" y="4553712"/>
            <a:ext cx="109728" cy="109728"/>
          </a:xfrm>
          <a:prstGeom prst="ellipse">
            <a:avLst/>
          </a:prstGeom>
          <a:solidFill>
            <a:srgbClr val="24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91072" y="4434840"/>
            <a:ext cx="4315968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F8FAFD"/>
                </a:solidFill>
                <a:latin typeface="Aptos"/>
              </a:rPr>
              <a:t>Fewer scheduling errors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5212079"/>
            <a:ext cx="109728" cy="109728"/>
          </a:xfrm>
          <a:prstGeom prst="ellipse">
            <a:avLst/>
          </a:prstGeom>
          <a:solidFill>
            <a:srgbClr val="24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70432" y="5093207"/>
            <a:ext cx="4315968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F8FAFD"/>
                </a:solidFill>
                <a:latin typeface="Aptos"/>
              </a:rPr>
              <a:t>Centralized, editable data</a:t>
            </a:r>
          </a:p>
        </p:txBody>
      </p:sp>
      <p:sp>
        <p:nvSpPr>
          <p:cNvPr id="25" name="Oval 24"/>
          <p:cNvSpPr/>
          <p:nvPr/>
        </p:nvSpPr>
        <p:spPr>
          <a:xfrm>
            <a:off x="6035040" y="5212079"/>
            <a:ext cx="109728" cy="109728"/>
          </a:xfrm>
          <a:prstGeom prst="ellipse">
            <a:avLst/>
          </a:prstGeom>
          <a:solidFill>
            <a:srgbClr val="24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91072" y="5093207"/>
            <a:ext cx="4315968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F8FAFD"/>
                </a:solidFill>
                <a:latin typeface="Aptos"/>
              </a:rPr>
              <a:t>Clearer use of rooms and faculty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989320"/>
            <a:ext cx="10515600" cy="3354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 dirty="0">
                <a:solidFill>
                  <a:srgbClr val="24BEAD"/>
                </a:solidFill>
                <a:latin typeface="Aptos"/>
              </a:rPr>
              <a:t>THANK YOU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533</Words>
  <Application>Microsoft Office PowerPoint</Application>
  <PresentationFormat>Widescreen</PresentationFormat>
  <Paragraphs>114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PRASANNA</dc:creator>
  <cp:keywords/>
  <dc:description>generated using python-pptx</dc:description>
  <cp:lastModifiedBy>LAKSHMI PRASANNA</cp:lastModifiedBy>
  <cp:revision>3</cp:revision>
  <dcterms:created xsi:type="dcterms:W3CDTF">2013-01-27T09:14:16Z</dcterms:created>
  <dcterms:modified xsi:type="dcterms:W3CDTF">2026-10-10T04:56:08Z</dcterms:modified>
  <cp:category/>
</cp:coreProperties>
</file>